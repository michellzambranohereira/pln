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675" y="2404534"/>
            <a:ext cx="7764913" cy="1646302"/>
          </a:xfrm>
        </p:spPr>
        <p:txBody>
          <a:bodyPr anchor="b">
            <a:noAutofit/>
          </a:bodyPr>
          <a:lstStyle>
            <a:lvl1pPr algn="r">
              <a:defRPr sz="5398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675" y="4050834"/>
            <a:ext cx="7764913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53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405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2700868"/>
            <a:ext cx="8594429" cy="1826581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67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158" y="2160589"/>
            <a:ext cx="418294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8645" y="2160590"/>
            <a:ext cx="418294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59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570" y="2160983"/>
            <a:ext cx="418453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70" y="2737246"/>
            <a:ext cx="418453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7058" y="2160983"/>
            <a:ext cx="4184528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7059" y="2737246"/>
            <a:ext cx="418452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38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28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92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1498604"/>
            <a:ext cx="3853524" cy="1278466"/>
          </a:xfr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9222" y="514925"/>
            <a:ext cx="4512366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2777069"/>
            <a:ext cx="3853524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8" indent="0">
              <a:buNone/>
              <a:defRPr sz="1000"/>
            </a:lvl4pPr>
            <a:lvl5pPr marL="1827703" indent="0">
              <a:buNone/>
              <a:defRPr sz="1000"/>
            </a:lvl5pPr>
            <a:lvl6pPr marL="2284628" indent="0">
              <a:buNone/>
              <a:defRPr sz="1000"/>
            </a:lvl6pPr>
            <a:lvl7pPr marL="2741554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8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4800600"/>
            <a:ext cx="859442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158" y="609600"/>
            <a:ext cx="859442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5367338"/>
            <a:ext cx="8594428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980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609600"/>
            <a:ext cx="8594429" cy="3403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094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5783" y="3632200"/>
            <a:ext cx="722264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3006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1931988"/>
            <a:ext cx="8594429" cy="2595460"/>
          </a:xfrm>
        </p:spPr>
        <p:txBody>
          <a:bodyPr anchor="b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457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68360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1" y="609600"/>
            <a:ext cx="858596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55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194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5599" y="609600"/>
            <a:ext cx="130440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159" y="609600"/>
            <a:ext cx="7058311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203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8" y="2160590"/>
            <a:ext cx="859442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3257" y="6041363"/>
            <a:ext cx="911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158" y="6041363"/>
            <a:ext cx="6295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8426" y="6041363"/>
            <a:ext cx="68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576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loom.com/share/950e7158e15549f4b5a9189c5497a33b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342" y="1950800"/>
            <a:ext cx="11093891" cy="1470025"/>
          </a:xfrm>
        </p:spPr>
        <p:txBody>
          <a:bodyPr>
            <a:noAutofit/>
          </a:bodyPr>
          <a:lstStyle/>
          <a:p>
            <a:pPr algn="ctr">
              <a:defRPr sz="6000" b="1">
                <a:solidFill>
                  <a:srgbClr val="1A1A2E"/>
                </a:solidFill>
              </a:defRPr>
            </a:pPr>
            <a:r>
              <a:rPr lang="es-VE" sz="6000" dirty="0">
                <a:latin typeface="Arial" panose="020B0604020202020204" pitchFamily="34" charset="0"/>
                <a:cs typeface="Arial" panose="020B0604020202020204" pitchFamily="34" charset="0"/>
              </a:rPr>
              <a:t>Procesamiento del Lenguaje Natural</a:t>
            </a:r>
            <a:endParaRPr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8736" y="3904463"/>
            <a:ext cx="8190271" cy="917513"/>
          </a:xfrm>
        </p:spPr>
        <p:txBody>
          <a:bodyPr>
            <a:noAutofit/>
          </a:bodyPr>
          <a:lstStyle/>
          <a:p>
            <a:pPr algn="ctr">
              <a:defRPr sz="3200">
                <a:solidFill>
                  <a:srgbClr val="0F3460"/>
                </a:solidFill>
              </a:defRPr>
            </a:pPr>
            <a:r>
              <a:rPr sz="4800" dirty="0">
                <a:latin typeface="Arial" panose="020B0604020202020204" pitchFamily="34" charset="0"/>
                <a:cs typeface="Arial" panose="020B0604020202020204" pitchFamily="34" charset="0"/>
              </a:rPr>
              <a:t>Portfolio de </a:t>
            </a:r>
            <a:r>
              <a:rPr sz="4800" dirty="0" err="1">
                <a:latin typeface="Arial" panose="020B0604020202020204" pitchFamily="34" charset="0"/>
                <a:cs typeface="Arial" panose="020B0604020202020204" pitchFamily="34" charset="0"/>
              </a:rPr>
              <a:t>Trabajos</a:t>
            </a:r>
            <a:r>
              <a:rPr sz="4800" dirty="0">
                <a:latin typeface="Arial" panose="020B0604020202020204" pitchFamily="34" charset="0"/>
                <a:cs typeface="Arial" panose="020B0604020202020204" pitchFamily="34" charset="0"/>
              </a:rPr>
              <a:t> |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4986" y="5208414"/>
            <a:ext cx="1008060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A1A2E"/>
                </a:solidFill>
              </a:defRPr>
            </a:pPr>
            <a:r>
              <a:rPr lang="es-VE" sz="2000" dirty="0">
                <a:latin typeface="Arial" panose="020B0604020202020204" pitchFamily="34" charset="0"/>
                <a:cs typeface="Arial" panose="020B0604020202020204" pitchFamily="34" charset="0"/>
              </a:rPr>
              <a:t>Michell Andreina Zambrano </a:t>
            </a:r>
            <a:r>
              <a:rPr lang="es-VE" sz="2000" dirty="0" err="1">
                <a:latin typeface="Arial" panose="020B0604020202020204" pitchFamily="34" charset="0"/>
                <a:cs typeface="Arial" panose="020B0604020202020204" pitchFamily="34" charset="0"/>
              </a:rPr>
              <a:t>Hereira</a:t>
            </a:r>
            <a:endParaRPr lang="es-V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2000">
                <a:solidFill>
                  <a:srgbClr val="1A1A2E"/>
                </a:solidFill>
              </a:defRPr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IFTS 24 –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Tecnicatura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Superior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Ciencias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de Datos e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Inteligencia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Artificial</a:t>
            </a:r>
          </a:p>
          <a:p>
            <a:pPr algn="ctr">
              <a:defRPr sz="1800">
                <a:solidFill>
                  <a:srgbClr val="1A1A2E"/>
                </a:solidFill>
              </a:defRPr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Año: 2025</a:t>
            </a:r>
          </a:p>
          <a:p>
            <a:pPr algn="ctr">
              <a:defRPr sz="1800">
                <a:solidFill>
                  <a:srgbClr val="1A1A2E"/>
                </a:solidFill>
              </a:defRPr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Prof. Matías Barreto</a:t>
            </a:r>
          </a:p>
        </p:txBody>
      </p:sp>
      <p:pic>
        <p:nvPicPr>
          <p:cNvPr id="6" name="Picture 5" descr="A logo with a globe and text&#10;&#10;AI-generated content may be incorrect.">
            <a:extLst>
              <a:ext uri="{FF2B5EF4-FFF2-40B4-BE49-F238E27FC236}">
                <a16:creationId xmlns:a16="http://schemas.microsoft.com/office/drawing/2014/main" id="{B2C338E0-73A3-8B76-1526-11CE38DC0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9039" y="-304840"/>
            <a:ext cx="4284458" cy="24124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545" y="231524"/>
            <a:ext cx="8594429" cy="1320800"/>
          </a:xfrm>
        </p:spPr>
        <p:txBody>
          <a:bodyPr>
            <a:normAutofit/>
          </a:bodyPr>
          <a:lstStyle/>
          <a:p>
            <a:pPr algn="l">
              <a:defRPr sz="4800" b="1">
                <a:solidFill>
                  <a:srgbClr val="1A1A2E"/>
                </a:solidFill>
              </a:defRPr>
            </a:pPr>
            <a:r>
              <a:rPr sz="4400" dirty="0" err="1">
                <a:latin typeface="Arial" panose="020B0604020202020204" pitchFamily="34" charset="0"/>
                <a:cs typeface="Arial" panose="020B0604020202020204" pitchFamily="34" charset="0"/>
              </a:rPr>
              <a:t>Trabajo</a:t>
            </a:r>
            <a:r>
              <a:rPr sz="4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dirty="0" err="1">
                <a:latin typeface="Arial" panose="020B0604020202020204" pitchFamily="34" charset="0"/>
                <a:cs typeface="Arial" panose="020B0604020202020204" pitchFamily="34" charset="0"/>
              </a:rPr>
              <a:t>Integrador</a:t>
            </a:r>
            <a:r>
              <a:rPr sz="4400" dirty="0"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  <a:r>
              <a:rPr lang="es-VE" sz="4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3700" y="1415503"/>
            <a:ext cx="561739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2E"/>
                </a:solidFill>
              </a:defRPr>
            </a:pP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Título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proyecto</a:t>
            </a:r>
            <a:r>
              <a:rPr lang="es-VE" sz="1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buSzPts val="358"/>
            </a:pPr>
            <a:r>
              <a:rPr lang="es-ES" sz="1400" dirty="0"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Análisis sobre la evolución del Merengue desde 1985 al 2007.</a:t>
            </a:r>
          </a:p>
          <a:p>
            <a:pPr>
              <a:defRPr sz="1800" b="1">
                <a:solidFill>
                  <a:srgbClr val="1A1A2E"/>
                </a:solidFill>
              </a:defRPr>
            </a:pP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Descripción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breve (2–3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líneas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El proyecto tiene como objetivo analizar cómo evolucionó el lenguaje amoroso en el merengue entre 1985 y 2007, haciendo énfasis en las formas de describir el amor en las letras.</a:t>
            </a:r>
          </a:p>
          <a:p>
            <a:pPr>
              <a:defRPr sz="1800" b="1">
                <a:solidFill>
                  <a:srgbClr val="1A1A2E"/>
                </a:solidFill>
              </a:defRPr>
            </a:pP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Tecnologías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utilizadas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Python 3.x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pandas,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scikit-learn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spaCy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matplotlib, seaborn</a:t>
            </a:r>
          </a:p>
          <a:p>
            <a:pPr>
              <a:defRPr sz="1800" b="1">
                <a:solidFill>
                  <a:srgbClr val="1A1A2E"/>
                </a:solidFill>
              </a:defRPr>
            </a:pP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Resultado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destacado</a:t>
            </a:r>
            <a:endParaRPr lang="es-V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800" b="1">
                <a:solidFill>
                  <a:srgbClr val="1A1A2E"/>
                </a:solidFill>
              </a:defRPr>
            </a:pPr>
            <a:r>
              <a:rPr lang="es-ES" sz="1400" dirty="0" err="1">
                <a:latin typeface="Arial" panose="020B0604020202020204" pitchFamily="34" charset="0"/>
                <a:cs typeface="Arial" panose="020B0604020202020204" pitchFamily="34" charset="0"/>
              </a:rPr>
              <a:t>BoW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y TF-IDF: útil para identificar términos frecuentes y distintivos, pero limitado en cuanto a interpretación emocional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 b="1">
                <a:solidFill>
                  <a:srgbClr val="1A1A2E"/>
                </a:solidFill>
              </a:defRPr>
            </a:pPr>
            <a:r>
              <a:rPr lang="es-ES" sz="1400" dirty="0" err="1">
                <a:latin typeface="Arial" panose="020B0604020202020204" pitchFamily="34" charset="0"/>
                <a:cs typeface="Arial" panose="020B0604020202020204" pitchFamily="34" charset="0"/>
              </a:rPr>
              <a:t>Embeddings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ofrecieron una representación más rica del significado contextual, permitiendo detectar similitudes temáticas más profundas entre canciones.</a:t>
            </a:r>
          </a:p>
          <a:p>
            <a:pPr>
              <a:defRPr sz="1800" b="1">
                <a:solidFill>
                  <a:srgbClr val="1A1A2E"/>
                </a:solidFill>
              </a:defRPr>
            </a:pP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Link al repositorio / demo</a:t>
            </a:r>
          </a:p>
          <a:p>
            <a:pPr lvl="1">
              <a:defRPr sz="1600">
                <a:solidFill>
                  <a:srgbClr val="1A1A2E"/>
                </a:solidFill>
              </a:defRP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https://github.com/michellzambranohereira/PLN/blob/main/TP_Integrador/Mi_Corpus/Notebook/TP_Integrador_PLN.ipynb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845367-03D8-BBA9-1707-6E0BD6398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161" y="1680974"/>
            <a:ext cx="6080120" cy="36972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469" y="216596"/>
            <a:ext cx="8594429" cy="1320800"/>
          </a:xfrm>
        </p:spPr>
        <p:txBody>
          <a:bodyPr>
            <a:normAutofit/>
          </a:bodyPr>
          <a:lstStyle/>
          <a:p>
            <a:pPr algn="l">
              <a:defRPr sz="4800" b="1">
                <a:solidFill>
                  <a:srgbClr val="1A1A2E"/>
                </a:solidFill>
              </a:defRPr>
            </a:pPr>
            <a:r>
              <a:rPr sz="4000" dirty="0" err="1"/>
              <a:t>Trabajos</a:t>
            </a:r>
            <a:r>
              <a:rPr sz="4000" dirty="0"/>
              <a:t> </a:t>
            </a:r>
            <a:r>
              <a:rPr sz="4000" dirty="0" err="1"/>
              <a:t>Prácticos</a:t>
            </a:r>
            <a:r>
              <a:rPr sz="4000" dirty="0"/>
              <a:t> de </a:t>
            </a:r>
            <a:r>
              <a:rPr sz="4000" dirty="0" err="1"/>
              <a:t>Cursada</a:t>
            </a:r>
            <a:r>
              <a:rPr lang="es-VE" sz="4000" dirty="0"/>
              <a:t>:</a:t>
            </a:r>
            <a:endParaRPr sz="4000" dirty="0"/>
          </a:p>
        </p:txBody>
      </p:sp>
      <p:sp>
        <p:nvSpPr>
          <p:cNvPr id="4" name="Rectangle 3"/>
          <p:cNvSpPr/>
          <p:nvPr/>
        </p:nvSpPr>
        <p:spPr>
          <a:xfrm>
            <a:off x="409163" y="1502670"/>
            <a:ext cx="4270992" cy="1240832"/>
          </a:xfrm>
          <a:prstGeom prst="rect">
            <a:avLst/>
          </a:prstGeom>
          <a:solidFill>
            <a:srgbClr val="FFFFFF"/>
          </a:solidFill>
          <a:ln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rPr dirty="0"/>
              <a:t>TP1 –</a:t>
            </a:r>
            <a:r>
              <a:rPr lang="es-VE" dirty="0"/>
              <a:t> Laboratorio de Text </a:t>
            </a:r>
            <a:r>
              <a:rPr lang="es-VE" dirty="0" err="1"/>
              <a:t>Minning</a:t>
            </a:r>
            <a:endParaRPr dirty="0"/>
          </a:p>
          <a:p>
            <a:pPr>
              <a:defRPr sz="1400">
                <a:solidFill>
                  <a:srgbClr val="1A1A2E"/>
                </a:solidFill>
              </a:defRPr>
            </a:pPr>
            <a:r>
              <a:rPr lang="es-ES" sz="1400" dirty="0"/>
              <a:t>Descripción: Analizar cuentos de Hernán </a:t>
            </a:r>
            <a:r>
              <a:rPr lang="en-US" sz="1400" dirty="0" err="1"/>
              <a:t>Casciari</a:t>
            </a:r>
            <a:r>
              <a:rPr lang="en-US" sz="1400" dirty="0"/>
              <a:t>.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rPr dirty="0"/>
              <a:t>Tech principal: Python</a:t>
            </a:r>
            <a:r>
              <a:rPr lang="es-VE" dirty="0"/>
              <a:t>, vectorización con Bag </a:t>
            </a:r>
            <a:r>
              <a:rPr lang="es-VE" dirty="0" err="1"/>
              <a:t>of</a:t>
            </a:r>
            <a:r>
              <a:rPr lang="es-VE" dirty="0"/>
              <a:t> </a:t>
            </a:r>
            <a:r>
              <a:rPr lang="es-VE" dirty="0" err="1"/>
              <a:t>Words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917115" y="1502669"/>
            <a:ext cx="4410691" cy="1240832"/>
          </a:xfrm>
          <a:prstGeom prst="rect">
            <a:avLst/>
          </a:prstGeom>
          <a:solidFill>
            <a:srgbClr val="FFFFFF"/>
          </a:solidFill>
          <a:ln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rPr dirty="0"/>
              <a:t>TP2 – </a:t>
            </a:r>
            <a:r>
              <a:rPr lang="es-VE" dirty="0" err="1"/>
              <a:t>Gradio</a:t>
            </a:r>
            <a:r>
              <a:rPr lang="es-VE" dirty="0"/>
              <a:t> - </a:t>
            </a:r>
            <a:r>
              <a:rPr lang="en-US" dirty="0" err="1"/>
              <a:t>Clasificador</a:t>
            </a:r>
            <a:r>
              <a:rPr lang="en-US" dirty="0"/>
              <a:t> de </a:t>
            </a:r>
            <a:r>
              <a:rPr lang="en-US" dirty="0" err="1"/>
              <a:t>Sentimientos</a:t>
            </a:r>
            <a:endParaRPr lang="en-US" dirty="0"/>
          </a:p>
          <a:p>
            <a:pPr>
              <a:defRPr sz="1400">
                <a:solidFill>
                  <a:srgbClr val="1A1A2E"/>
                </a:solidFill>
              </a:defRPr>
            </a:pPr>
            <a:r>
              <a:rPr lang="es-VE" dirty="0"/>
              <a:t>Descripción: </a:t>
            </a:r>
            <a:r>
              <a:rPr lang="es-ES" sz="1400" dirty="0"/>
              <a:t>Simular un clasificador básico y usar Radio, </a:t>
            </a:r>
            <a:r>
              <a:rPr lang="es-ES" sz="1400" dirty="0" err="1"/>
              <a:t>Label</a:t>
            </a:r>
            <a:r>
              <a:rPr lang="es-ES" sz="1400" dirty="0"/>
              <a:t>. </a:t>
            </a:r>
            <a:r>
              <a:rPr dirty="0"/>
              <a:t>Tech principal: Python, </a:t>
            </a:r>
            <a:r>
              <a:rPr lang="es-VE" dirty="0" err="1"/>
              <a:t>Gradio</a:t>
            </a:r>
            <a:r>
              <a:rPr lang="es-VE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1920" y="3788765"/>
            <a:ext cx="5019369" cy="1920240"/>
          </a:xfrm>
          <a:prstGeom prst="rect">
            <a:avLst/>
          </a:prstGeom>
          <a:solidFill>
            <a:srgbClr val="FFFFFF"/>
          </a:solidFill>
          <a:ln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rPr dirty="0"/>
              <a:t>TP3 – </a:t>
            </a:r>
            <a:r>
              <a:rPr lang="es-ES" dirty="0"/>
              <a:t>Aplicaciones Prácticas de NLP con Transformers</a:t>
            </a:r>
          </a:p>
          <a:p>
            <a:pPr algn="ctr">
              <a:defRPr sz="1800" b="1">
                <a:solidFill>
                  <a:srgbClr val="1A1A2E"/>
                </a:solidFill>
              </a:defRPr>
            </a:pPr>
            <a:endParaRPr dirty="0"/>
          </a:p>
          <a:p>
            <a:pPr>
              <a:defRPr sz="1400">
                <a:solidFill>
                  <a:srgbClr val="1A1A2E"/>
                </a:solidFill>
              </a:defRPr>
            </a:pPr>
            <a:r>
              <a:rPr dirty="0" err="1"/>
              <a:t>Descripción</a:t>
            </a:r>
            <a:r>
              <a:rPr lang="es-VE" dirty="0"/>
              <a:t>: </a:t>
            </a:r>
            <a:r>
              <a:rPr lang="pt-BR" sz="1400" dirty="0"/>
              <a:t>Usar modelos preentrenados de Hugging Face para tareas reales </a:t>
            </a:r>
          </a:p>
          <a:p>
            <a:pPr>
              <a:defRPr sz="1400">
                <a:solidFill>
                  <a:srgbClr val="1A1A2E"/>
                </a:solidFill>
              </a:defRPr>
            </a:pPr>
            <a:r>
              <a:rPr dirty="0"/>
              <a:t>Tech principal: Python,</a:t>
            </a:r>
            <a:r>
              <a:rPr lang="es-VE" dirty="0"/>
              <a:t> Transformers, </a:t>
            </a:r>
            <a:r>
              <a:rPr lang="es-VE" dirty="0" err="1"/>
              <a:t>Hugging</a:t>
            </a:r>
            <a:r>
              <a:rPr lang="es-VE" dirty="0"/>
              <a:t> </a:t>
            </a:r>
            <a:r>
              <a:rPr lang="es-VE" dirty="0" err="1"/>
              <a:t>Face</a:t>
            </a:r>
            <a:r>
              <a:rPr lang="es-VE" dirty="0"/>
              <a:t>.</a:t>
            </a:r>
            <a:endParaRPr dirty="0"/>
          </a:p>
          <a:p>
            <a:pPr>
              <a:defRPr sz="1200">
                <a:solidFill>
                  <a:srgbClr val="0F3460"/>
                </a:solidFill>
              </a:defRPr>
            </a:pP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CD1347-68DB-6F33-231C-05E3843C6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50" y="2582660"/>
            <a:ext cx="4044353" cy="7335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96C0369-222C-415E-4747-9A06C8CAA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296" y="2625938"/>
            <a:ext cx="3906581" cy="1068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004A2DF-3B73-850E-5633-6639BB184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456" y="5491334"/>
            <a:ext cx="3221162" cy="13804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84" y="88491"/>
            <a:ext cx="10885577" cy="1320800"/>
          </a:xfrm>
        </p:spPr>
        <p:txBody>
          <a:bodyPr>
            <a:noAutofit/>
          </a:bodyPr>
          <a:lstStyle/>
          <a:p>
            <a:pPr algn="l">
              <a:defRPr sz="4800" b="1">
                <a:solidFill>
                  <a:srgbClr val="1A1A2E"/>
                </a:solidFill>
              </a:defRPr>
            </a:pPr>
            <a:r>
              <a:rPr sz="4000" dirty="0" err="1"/>
              <a:t>Trabajo</a:t>
            </a:r>
            <a:r>
              <a:rPr sz="4000" dirty="0"/>
              <a:t> </a:t>
            </a:r>
            <a:r>
              <a:rPr sz="4000" dirty="0" err="1"/>
              <a:t>Integrador</a:t>
            </a:r>
            <a:r>
              <a:rPr sz="4000" dirty="0"/>
              <a:t> 2 – Proyecto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410" y="1409291"/>
            <a:ext cx="658662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2E"/>
                </a:solidFill>
              </a:defRPr>
            </a:pPr>
            <a:r>
              <a:rPr sz="1400" dirty="0" err="1"/>
              <a:t>Título</a:t>
            </a:r>
            <a:r>
              <a:rPr sz="1400" dirty="0"/>
              <a:t> del </a:t>
            </a:r>
            <a:r>
              <a:rPr sz="1400" dirty="0" err="1"/>
              <a:t>proyecto</a:t>
            </a:r>
            <a:r>
              <a:rPr lang="es-VE" sz="1400" dirty="0"/>
              <a:t>:</a:t>
            </a:r>
            <a:endParaRPr sz="1400" dirty="0"/>
          </a:p>
          <a:p>
            <a:pPr lvl="1">
              <a:defRPr sz="1600">
                <a:solidFill>
                  <a:srgbClr val="1A1A2E"/>
                </a:solidFill>
              </a:defRPr>
            </a:pPr>
            <a:r>
              <a:rPr lang="es-ES" sz="1400" dirty="0"/>
              <a:t>Análisis de Reseñas de Harry Potter.</a:t>
            </a:r>
          </a:p>
          <a:p>
            <a:pPr>
              <a:defRPr sz="1800" b="1">
                <a:solidFill>
                  <a:srgbClr val="1A1A2E"/>
                </a:solidFill>
              </a:defRPr>
            </a:pPr>
            <a:r>
              <a:rPr lang="es-ES" sz="1400" dirty="0"/>
              <a:t>Problema:</a:t>
            </a:r>
          </a:p>
          <a:p>
            <a:pPr lvl="1">
              <a:defRPr sz="1600">
                <a:solidFill>
                  <a:srgbClr val="1A1A2E"/>
                </a:solidFill>
              </a:defRPr>
            </a:pPr>
            <a:r>
              <a:rPr lang="es-ES" sz="1400" dirty="0"/>
              <a:t>Los </a:t>
            </a:r>
            <a:r>
              <a:rPr lang="es-ES" sz="1400" dirty="0" err="1"/>
              <a:t>datasets</a:t>
            </a:r>
            <a:r>
              <a:rPr lang="es-ES" sz="1400" dirty="0"/>
              <a:t> de reseñas suelen ser extensos, repetitivos y difíciles de analizar manualmente.</a:t>
            </a:r>
            <a:endParaRPr sz="1400" dirty="0"/>
          </a:p>
          <a:p>
            <a:pPr>
              <a:defRPr sz="1800" b="1">
                <a:solidFill>
                  <a:srgbClr val="1A1A2E"/>
                </a:solidFill>
              </a:defRPr>
            </a:pPr>
            <a:r>
              <a:rPr sz="1400" dirty="0" err="1"/>
              <a:t>Solución</a:t>
            </a:r>
            <a:r>
              <a:rPr lang="en-US" sz="1400" dirty="0"/>
              <a:t>:</a:t>
            </a:r>
            <a:endParaRPr lang="es-ES" sz="1400" dirty="0"/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1A1A2E"/>
                </a:solidFill>
              </a:defRPr>
            </a:pPr>
            <a:r>
              <a:rPr lang="es-ES" sz="1400" dirty="0"/>
              <a:t>Permite preguntar directamente sobre el contenido del corpus.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1A1A2E"/>
                </a:solidFill>
              </a:defRPr>
            </a:pPr>
            <a:r>
              <a:rPr lang="es-ES" sz="1400" dirty="0"/>
              <a:t>Recupera las reseñas más relevantes y genera una síntesis automática.</a:t>
            </a:r>
            <a:endParaRPr sz="1400" dirty="0"/>
          </a:p>
          <a:p>
            <a:pPr>
              <a:defRPr sz="1800" b="1">
                <a:solidFill>
                  <a:srgbClr val="1A1A2E"/>
                </a:solidFill>
              </a:defRPr>
            </a:pPr>
            <a:r>
              <a:rPr sz="1400" dirty="0"/>
              <a:t>Stack </a:t>
            </a:r>
            <a:r>
              <a:rPr sz="1400" dirty="0" err="1"/>
              <a:t>tecnológico</a:t>
            </a:r>
            <a:r>
              <a:rPr lang="es-VE" sz="1400" dirty="0"/>
              <a:t>:</a:t>
            </a:r>
            <a:endParaRPr sz="1400" dirty="0"/>
          </a:p>
          <a:p>
            <a:pPr lvl="1">
              <a:defRPr sz="1600">
                <a:solidFill>
                  <a:srgbClr val="1A1A2E"/>
                </a:solidFill>
              </a:defRPr>
            </a:pPr>
            <a:r>
              <a:rPr sz="1400" dirty="0"/>
              <a:t>Python · </a:t>
            </a:r>
            <a:r>
              <a:rPr sz="1400" dirty="0" err="1"/>
              <a:t>LangChain</a:t>
            </a:r>
            <a:r>
              <a:rPr sz="1400" dirty="0"/>
              <a:t> · </a:t>
            </a:r>
            <a:r>
              <a:rPr sz="1400" dirty="0" err="1"/>
              <a:t>ChromaDB</a:t>
            </a:r>
            <a:r>
              <a:rPr sz="1400" dirty="0"/>
              <a:t> · </a:t>
            </a:r>
            <a:r>
              <a:rPr sz="1400" dirty="0" err="1"/>
              <a:t>Streamlit</a:t>
            </a:r>
            <a:r>
              <a:rPr sz="1400" dirty="0"/>
              <a:t> · </a:t>
            </a:r>
            <a:r>
              <a:rPr lang="en-US" sz="1400" dirty="0"/>
              <a:t>Embeddings</a:t>
            </a:r>
            <a:endParaRPr sz="1400" dirty="0"/>
          </a:p>
          <a:p>
            <a:pPr>
              <a:defRPr sz="1800" b="1">
                <a:solidFill>
                  <a:srgbClr val="1A1A2E"/>
                </a:solidFill>
              </a:defRPr>
            </a:pPr>
            <a:r>
              <a:rPr sz="1400" dirty="0" err="1"/>
              <a:t>Características</a:t>
            </a:r>
            <a:r>
              <a:rPr sz="1400" dirty="0"/>
              <a:t> / </a:t>
            </a:r>
            <a:r>
              <a:rPr sz="1400" dirty="0" err="1"/>
              <a:t>Resultados</a:t>
            </a:r>
            <a:r>
              <a:rPr sz="1400" dirty="0"/>
              <a:t> clave</a:t>
            </a:r>
            <a:r>
              <a:rPr lang="es-VE" sz="1400" dirty="0"/>
              <a:t>:</a:t>
            </a:r>
            <a:endParaRPr sz="1400" dirty="0"/>
          </a:p>
          <a:p>
            <a:pPr lvl="1">
              <a:defRPr sz="1600">
                <a:solidFill>
                  <a:srgbClr val="1A1A2E"/>
                </a:solidFill>
              </a:defRPr>
            </a:pPr>
            <a:r>
              <a:rPr sz="1400" dirty="0"/>
              <a:t>•</a:t>
            </a:r>
            <a:r>
              <a:rPr lang="es-VE" sz="1400" dirty="0"/>
              <a:t> Para algunas preguntas responde acorde</a:t>
            </a:r>
            <a:br>
              <a:rPr sz="1400" dirty="0"/>
            </a:br>
            <a:r>
              <a:rPr sz="1400" dirty="0"/>
              <a:t>•</a:t>
            </a:r>
            <a:r>
              <a:rPr lang="es-VE" sz="1400" dirty="0"/>
              <a:t> Al tener pocas reseñas, las respuestas a algunas preguntas no son suficientes</a:t>
            </a:r>
            <a:br>
              <a:rPr sz="1400" dirty="0"/>
            </a:br>
            <a:r>
              <a:rPr sz="1400" dirty="0"/>
              <a:t>• </a:t>
            </a:r>
            <a:r>
              <a:rPr lang="es-ES" sz="1400" dirty="0"/>
              <a:t>Se aceptó las limitaciones y se opto por mantener un MVP simple, funcional y reproducible.</a:t>
            </a:r>
            <a:endParaRPr lang="en-US" sz="1400" dirty="0"/>
          </a:p>
          <a:p>
            <a:pPr>
              <a:defRPr sz="1800" b="1">
                <a:solidFill>
                  <a:srgbClr val="1A1A2E"/>
                </a:solidFill>
              </a:defRPr>
            </a:pPr>
            <a:r>
              <a:rPr lang="en-US" sz="1400" dirty="0"/>
              <a:t>Equipo: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1A1A2E"/>
                </a:solidFill>
              </a:defRPr>
            </a:pPr>
            <a:r>
              <a:rPr lang="es-VE" sz="1400" dirty="0"/>
              <a:t>Michell Zambrano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1A1A2E"/>
                </a:solidFill>
              </a:defRPr>
            </a:pPr>
            <a:r>
              <a:rPr lang="es-VE" sz="1400" dirty="0" err="1"/>
              <a:t>Stefania</a:t>
            </a:r>
            <a:r>
              <a:rPr lang="es-VE" sz="1400" dirty="0"/>
              <a:t> </a:t>
            </a:r>
            <a:r>
              <a:rPr lang="es-VE" sz="1400" dirty="0" err="1"/>
              <a:t>Jímenez</a:t>
            </a:r>
            <a:endParaRPr lang="es-VE" sz="1400" dirty="0"/>
          </a:p>
          <a:p>
            <a:pPr marL="742950" lvl="1" indent="-285750">
              <a:buFont typeface="Arial" panose="020B0604020202020204" pitchFamily="34" charset="0"/>
              <a:buChar char="•"/>
              <a:defRPr sz="1600">
                <a:solidFill>
                  <a:srgbClr val="1A1A2E"/>
                </a:solidFill>
              </a:defRPr>
            </a:pPr>
            <a:r>
              <a:rPr lang="es-VE" sz="1400" dirty="0"/>
              <a:t>Florencia Lombardi</a:t>
            </a:r>
            <a:endParaRPr sz="1400" dirty="0"/>
          </a:p>
          <a:p>
            <a:pPr>
              <a:defRPr sz="1800" b="1">
                <a:solidFill>
                  <a:srgbClr val="1A1A2E"/>
                </a:solidFill>
              </a:defRPr>
            </a:pPr>
            <a:r>
              <a:rPr sz="1400" dirty="0"/>
              <a:t>Links</a:t>
            </a:r>
            <a:r>
              <a:rPr lang="es-VE" sz="1400" dirty="0"/>
              <a:t>:</a:t>
            </a:r>
            <a:endParaRPr sz="1400" dirty="0"/>
          </a:p>
          <a:p>
            <a:pPr lvl="1">
              <a:defRPr sz="1600">
                <a:solidFill>
                  <a:srgbClr val="1A1A2E"/>
                </a:solidFill>
              </a:defRPr>
            </a:pPr>
            <a:r>
              <a:rPr lang="en-US" sz="1400" dirty="0"/>
              <a:t>https://www.loom.com/share/950e7158e15549f4b5a9189c5497a33b</a:t>
            </a:r>
            <a:endParaRPr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87E419-C520-D338-D544-D772D4682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039" y="1622651"/>
            <a:ext cx="5206811" cy="38260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532" y="275304"/>
            <a:ext cx="8594429" cy="1320800"/>
          </a:xfrm>
        </p:spPr>
        <p:txBody>
          <a:bodyPr>
            <a:normAutofit/>
          </a:bodyPr>
          <a:lstStyle/>
          <a:p>
            <a:pPr algn="l">
              <a:defRPr sz="4800" b="1">
                <a:solidFill>
                  <a:srgbClr val="1A1A2E"/>
                </a:solidFill>
              </a:defRPr>
            </a:pPr>
            <a:r>
              <a:rPr sz="4000" dirty="0"/>
              <a:t>Video </a:t>
            </a:r>
            <a:r>
              <a:rPr sz="4000" dirty="0" err="1"/>
              <a:t>Demostración</a:t>
            </a:r>
            <a:endParaRPr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0653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F3460"/>
                </a:solidFill>
              </a:defRPr>
            </a:pPr>
            <a:r>
              <a:rPr lang="es-ES" sz="2800" dirty="0"/>
              <a:t>Análisis de Reseñas de Harry Potter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34352" y="5777895"/>
            <a:ext cx="1030993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</a:defRPr>
            </a:pPr>
            <a:r>
              <a:rPr dirty="0"/>
              <a:t>Link al video: </a:t>
            </a:r>
            <a:r>
              <a:rPr lang="en-US" dirty="0"/>
              <a:t>https://www.loom.com/share/950e7158e15549f4b5a9189c5497a33b</a:t>
            </a:r>
            <a:endParaRPr dirty="0"/>
          </a:p>
        </p:txBody>
      </p:sp>
      <p:pic>
        <p:nvPicPr>
          <p:cNvPr id="6" name="Picture 5">
            <a:hlinkClick r:id="rId2"/>
            <a:extLst>
              <a:ext uri="{FF2B5EF4-FFF2-40B4-BE49-F238E27FC236}">
                <a16:creationId xmlns:a16="http://schemas.microsoft.com/office/drawing/2014/main" id="{8A965BF1-6E03-B991-4426-E1EBD4F62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209" y="2160473"/>
            <a:ext cx="4154843" cy="30530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198</TotalTime>
  <Words>420</Words>
  <Application>Microsoft Office PowerPoint</Application>
  <PresentationFormat>Custom</PresentationFormat>
  <Paragraphs>53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Procesamiento del Lenguaje Natural</vt:lpstr>
      <vt:lpstr>Trabajo Integrador 1: </vt:lpstr>
      <vt:lpstr>Trabajos Prácticos de Cursada:</vt:lpstr>
      <vt:lpstr>Trabajo Integrador 2 – Proyecto Final</vt:lpstr>
      <vt:lpstr>Video Demostración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Michell Zambrano.</cp:lastModifiedBy>
  <cp:revision>3</cp:revision>
  <dcterms:created xsi:type="dcterms:W3CDTF">2013-01-27T09:14:16Z</dcterms:created>
  <dcterms:modified xsi:type="dcterms:W3CDTF">2025-11-19T20:37:05Z</dcterms:modified>
  <cp:category/>
</cp:coreProperties>
</file>